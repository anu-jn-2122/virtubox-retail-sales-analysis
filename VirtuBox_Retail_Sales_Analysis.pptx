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8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194560" cy="2194560"/>
          </a:xfrm>
          <a:prstGeom prst="ellipse">
            <a:avLst/>
          </a:prstGeom>
          <a:solidFill>
            <a:srgbClr val="DE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2103120"/>
            <a:ext cx="1280160" cy="1280160"/>
          </a:xfrm>
          <a:prstGeom prst="ellipse">
            <a:avLst/>
          </a:prstGeom>
          <a:solidFill>
            <a:srgbClr val="E0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58200" y="3977639"/>
            <a:ext cx="2560320" cy="109728"/>
          </a:xfrm>
          <a:prstGeom prst="rect">
            <a:avLst/>
          </a:prstGeom>
          <a:solidFill>
            <a:srgbClr val="3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58200" y="4343400"/>
            <a:ext cx="1920240" cy="109728"/>
          </a:xfrm>
          <a:prstGeom prst="rect">
            <a:avLst/>
          </a:prstGeom>
          <a:solidFill>
            <a:srgbClr val="348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58200" y="4709160"/>
            <a:ext cx="1371600" cy="109728"/>
          </a:xfrm>
          <a:prstGeom prst="rect">
            <a:avLst/>
          </a:prstGeom>
          <a:solidFill>
            <a:srgbClr val="DAA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348783"/>
                </a:solidFill>
                <a:latin typeface="Aptos"/>
              </a:defRPr>
            </a:pPr>
            <a:r>
              <a:t>DATA ANALYST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713232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3400" b="1">
                <a:solidFill>
                  <a:srgbClr val="1E304B"/>
                </a:solidFill>
                <a:latin typeface="Aptos"/>
              </a:defRPr>
            </a:pPr>
            <a:r>
              <a:t>Retail Sales</a:t>
            </a:r>
          </a:p>
          <a:p>
            <a:pPr algn="l">
              <a:spcAft>
                <a:spcPts val="700"/>
              </a:spcAft>
              <a:defRPr sz="3400" b="1">
                <a:solidFill>
                  <a:srgbClr val="1E304B"/>
                </a:solidFill>
                <a:latin typeface="Aptos"/>
              </a:defRPr>
            </a:pPr>
            <a:r>
              <a:t>Performance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65836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677686"/>
                </a:solidFill>
                <a:latin typeface="Aptos"/>
              </a:defRPr>
            </a:pPr>
            <a:r>
              <a:t>Exploring product performance, country contribution and monthly sales trends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343400"/>
            <a:ext cx="960120" cy="54864"/>
          </a:xfrm>
          <a:prstGeom prst="rect">
            <a:avLst/>
          </a:prstGeom>
          <a:solidFill>
            <a:srgbClr val="348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27313D"/>
                </a:solidFill>
                <a:latin typeface="Aptos"/>
              </a:defRPr>
            </a:pPr>
            <a:r>
              <a:t>Dataset: UCI Online Retail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7492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77686"/>
                </a:solidFill>
                <a:latin typeface="Aptos"/>
              </a:defRPr>
            </a:pPr>
            <a:r>
              <a:t>Prepared for VirtuBox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7220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77686"/>
                </a:solidFill>
                <a:latin typeface="Aptos"/>
              </a:defRPr>
            </a:pPr>
            <a:r>
              <a:t>Retail analytics • Data cleaning • Dashboard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348783"/>
                </a:solidFill>
                <a:latin typeface="Aptos"/>
              </a:defRPr>
            </a:pPr>
            <a: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E304B"/>
                </a:solidFill>
                <a:latin typeface="Aptos"/>
              </a:defRPr>
            </a:pPr>
            <a:r>
              <a:t>What I wanted to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77686"/>
                </a:solidFill>
                <a:latin typeface="Aptos"/>
              </a:defRPr>
            </a:pPr>
            <a:r>
              <a:t>Using historical online retail transactions to turn raw records into useful business insights.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77686"/>
                </a:solidFill>
                <a:latin typeface="Aptos"/>
              </a:defRPr>
            </a:pPr>
            <a:r>
              <a:t>VIRTUBOX INFOTECH  •  DATA ANALYST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7768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606040" cy="164592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82296" cy="1645920"/>
          </a:xfrm>
          <a:prstGeom prst="rect">
            <a:avLst/>
          </a:prstGeom>
          <a:solidFill>
            <a:srgbClr val="3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22219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77686"/>
                </a:solidFill>
                <a:latin typeface="Aptos"/>
              </a:defRPr>
            </a:pPr>
            <a:r>
              <a:t>ORIGINAL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04872"/>
            <a:ext cx="222199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E304B"/>
                </a:solidFill>
                <a:latin typeface="Aptos"/>
              </a:defRPr>
            </a:pPr>
            <a:r>
              <a:t>541,909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008376"/>
            <a:ext cx="222199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77686"/>
                </a:solidFill>
                <a:latin typeface="Aptos"/>
              </a:defRPr>
            </a:pPr>
            <a:r>
              <a:t>Rows in the source dataset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874519"/>
            <a:ext cx="2606040" cy="164592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874519"/>
            <a:ext cx="82296" cy="1645920"/>
          </a:xfrm>
          <a:prstGeom prst="rect">
            <a:avLst/>
          </a:prstGeom>
          <a:solidFill>
            <a:srgbClr val="348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039112"/>
            <a:ext cx="22219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77686"/>
                </a:solidFill>
                <a:latin typeface="Aptos"/>
              </a:defRPr>
            </a:pPr>
            <a:r>
              <a:t>SOURCE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404872"/>
            <a:ext cx="222199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E304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008376"/>
            <a:ext cx="222199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77686"/>
                </a:solidFill>
                <a:latin typeface="Aptos"/>
              </a:defRPr>
            </a:pPr>
            <a:r>
              <a:t>Including quantity, price, date and country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74519"/>
            <a:ext cx="2606040" cy="164592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874519"/>
            <a:ext cx="82296" cy="1645920"/>
          </a:xfrm>
          <a:prstGeom prst="rect">
            <a:avLst/>
          </a:prstGeom>
          <a:solidFill>
            <a:srgbClr val="DAA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039112"/>
            <a:ext cx="22219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77686"/>
                </a:solidFill>
                <a:latin typeface="Aptos"/>
              </a:defRPr>
            </a:pPr>
            <a:r>
              <a:t>AFTER DEDUPLICATION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404872"/>
            <a:ext cx="222199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E304B"/>
                </a:solidFill>
                <a:latin typeface="Aptos"/>
              </a:defRPr>
            </a:pPr>
            <a:r>
              <a:t>536,641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008376"/>
            <a:ext cx="222199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77686"/>
                </a:solidFill>
                <a:latin typeface="Aptos"/>
              </a:defRPr>
            </a:pPr>
            <a:r>
              <a:t>Rows retained for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874519"/>
            <a:ext cx="2514600" cy="164592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1874519"/>
            <a:ext cx="82296" cy="1645920"/>
          </a:xfrm>
          <a:prstGeom prst="rect">
            <a:avLst/>
          </a:prstGeom>
          <a:solidFill>
            <a:srgbClr val="3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8" y="2039112"/>
            <a:ext cx="21305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77686"/>
                </a:solidFill>
                <a:latin typeface="Aptos"/>
              </a:defRPr>
            </a:pPr>
            <a:r>
              <a:t>EXACT DUPLICATES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404872"/>
            <a:ext cx="213055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E304B"/>
                </a:solidFill>
                <a:latin typeface="Aptos"/>
              </a:defRPr>
            </a:pPr>
            <a:r>
              <a:t>5,268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3008376"/>
            <a:ext cx="213055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77686"/>
                </a:solidFill>
                <a:latin typeface="Aptos"/>
              </a:defRPr>
            </a:pPr>
            <a:r>
              <a:t>Removed during cleaning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06908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E304B"/>
                </a:solidFill>
                <a:latin typeface="Aptos"/>
              </a:defRPr>
            </a:pPr>
            <a:r>
              <a:t>Questions guiding the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526280"/>
            <a:ext cx="1033272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7313D"/>
                </a:solidFill>
                <a:latin typeface="Aptos"/>
              </a:defRPr>
            </a:pPr>
            <a:r>
              <a:t>Which products contribute the most sales value?</a:t>
            </a:r>
          </a:p>
          <a:p>
            <a:pPr>
              <a:spcAft>
                <a:spcPts val="800"/>
              </a:spcAft>
              <a:defRPr sz="1600">
                <a:solidFill>
                  <a:srgbClr val="27313D"/>
                </a:solidFill>
                <a:latin typeface="Aptos"/>
              </a:defRPr>
            </a:pPr>
            <a:r>
              <a:t>Which countries contribute most to sales?</a:t>
            </a:r>
          </a:p>
          <a:p>
            <a:pPr>
              <a:spcAft>
                <a:spcPts val="800"/>
              </a:spcAft>
              <a:defRPr sz="1600">
                <a:solidFill>
                  <a:srgbClr val="27313D"/>
                </a:solidFill>
                <a:latin typeface="Aptos"/>
              </a:defRPr>
            </a:pPr>
            <a:r>
              <a:t>How does sales value change month to month?</a:t>
            </a:r>
          </a:p>
          <a:p>
            <a:pPr>
              <a:spcAft>
                <a:spcPts val="800"/>
              </a:spcAft>
              <a:defRPr sz="1600">
                <a:solidFill>
                  <a:srgbClr val="27313D"/>
                </a:solidFill>
                <a:latin typeface="Aptos"/>
              </a:defRPr>
            </a:pPr>
            <a:r>
              <a:t>What should be checked before making decisions from the data?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348783"/>
                </a:solidFill>
                <a:latin typeface="Aptos"/>
              </a:defRPr>
            </a:pPr>
            <a:r>
              <a:t>02 /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E304B"/>
                </a:solidFill>
                <a:latin typeface="Aptos"/>
              </a:defRPr>
            </a:pPr>
            <a:r>
              <a:t>Cleaning the data before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77686"/>
                </a:solidFill>
                <a:latin typeface="Aptos"/>
              </a:defRPr>
            </a:pPr>
            <a:r>
              <a:t>I removed exact duplicates, standardized text and added fields to support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77686"/>
                </a:solidFill>
                <a:latin typeface="Aptos"/>
              </a:defRPr>
            </a:pPr>
            <a:r>
              <a:t>VIRTUBOX INFOTECH  •  DATA ANALYST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7768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874519"/>
            <a:ext cx="438912" cy="438912"/>
          </a:xfrm>
          <a:prstGeom prst="ellipse">
            <a:avLst/>
          </a:prstGeom>
          <a:solidFill>
            <a:srgbClr val="348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75103"/>
            <a:ext cx="42062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74519"/>
            <a:ext cx="2331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E304B"/>
                </a:solidFill>
                <a:latin typeface="Aptos"/>
              </a:defRPr>
            </a:pPr>
            <a:r>
              <a:t>Remove duplicates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19"/>
            <a:ext cx="7315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t>Removed 5,268 exact duplicate rows.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679191"/>
            <a:ext cx="438912" cy="438912"/>
          </a:xfrm>
          <a:prstGeom prst="ellipse">
            <a:avLst/>
          </a:prstGeom>
          <a:solidFill>
            <a:srgbClr val="348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779775"/>
            <a:ext cx="42062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79191"/>
            <a:ext cx="2331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E304B"/>
                </a:solidFill>
                <a:latin typeface="Aptos"/>
              </a:defRPr>
            </a:pPr>
            <a:r>
              <a:t>Standardize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79191"/>
            <a:ext cx="7315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t>Trimmed spaces in description and country fields.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483863"/>
            <a:ext cx="438912" cy="438912"/>
          </a:xfrm>
          <a:prstGeom prst="ellipse">
            <a:avLst/>
          </a:prstGeom>
          <a:solidFill>
            <a:srgbClr val="348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584447"/>
            <a:ext cx="42062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83863"/>
            <a:ext cx="2331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E304B"/>
                </a:solidFill>
                <a:latin typeface="Aptos"/>
              </a:defRPr>
            </a:pPr>
            <a:r>
              <a:t>Create sales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483863"/>
            <a:ext cx="7315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t>SalesValue = Quantity × UnitPrice.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88536"/>
            <a:ext cx="438912" cy="438912"/>
          </a:xfrm>
          <a:prstGeom prst="ellipse">
            <a:avLst/>
          </a:prstGeom>
          <a:solidFill>
            <a:srgbClr val="3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389120"/>
            <a:ext cx="42062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288536"/>
            <a:ext cx="2331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E304B"/>
                </a:solidFill>
                <a:latin typeface="Aptos"/>
              </a:defRPr>
            </a:pPr>
            <a:r>
              <a:t>Flag unusual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288536"/>
            <a:ext cx="7315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t>Marked cancellations, missing IDs/descriptions, non-positive prices and quantities.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5093208"/>
            <a:ext cx="438912" cy="438912"/>
          </a:xfrm>
          <a:prstGeom prst="ellipse">
            <a:avLst/>
          </a:prstGeom>
          <a:solidFill>
            <a:srgbClr val="3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193792"/>
            <a:ext cx="42062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093208"/>
            <a:ext cx="2331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E304B"/>
                </a:solidFill>
                <a:latin typeface="Aptos"/>
              </a:defRPr>
            </a:pPr>
            <a:r>
              <a:t>Prepare time trend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093208"/>
            <a:ext cx="7315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t>Created a YearMonth field from the invoice date.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89320"/>
            <a:ext cx="106070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348783"/>
                </a:solidFill>
                <a:latin typeface="Aptos"/>
              </a:defRPr>
            </a:pPr>
            <a:r>
              <a:t>Cleaning approach: flag unusual transactions rather than silently deleting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348783"/>
                </a:solidFill>
                <a:latin typeface="Aptos"/>
              </a:defRPr>
            </a:pPr>
            <a:r>
              <a:t>03 /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E304B"/>
                </a:solidFill>
                <a:latin typeface="Aptos"/>
              </a:defRPr>
            </a:pPr>
            <a:r>
              <a:t>A few results stood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77686"/>
                </a:solidFill>
                <a:latin typeface="Aptos"/>
              </a:defRPr>
            </a:pPr>
            <a:r>
              <a:t>Positive-sales analysis excludes rows with non-positive quantity or unit price and cancellation invoices.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77686"/>
                </a:solidFill>
                <a:latin typeface="Aptos"/>
              </a:defRPr>
            </a:pPr>
            <a:r>
              <a:t>VIRTUBOX INFOTECH  •  DATA ANALYST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7768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429000" cy="160020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82296" cy="1600200"/>
          </a:xfrm>
          <a:prstGeom prst="rect">
            <a:avLst/>
          </a:prstGeom>
          <a:solidFill>
            <a:srgbClr val="348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30449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77686"/>
                </a:solidFill>
                <a:latin typeface="Aptos"/>
              </a:defRPr>
            </a:pPr>
            <a:r>
              <a:t>POSITIVE SALES LINE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04872"/>
            <a:ext cx="304495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E304B"/>
                </a:solidFill>
                <a:latin typeface="Aptos"/>
              </a:defRPr>
            </a:pPr>
            <a:r>
              <a:t>£10.64M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08376"/>
            <a:ext cx="304495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77686"/>
                </a:solidFill>
                <a:latin typeface="Aptos"/>
              </a:defRPr>
            </a:pPr>
            <a:r>
              <a:t>Gross line value, not profit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29000" cy="160020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82296" cy="1600200"/>
          </a:xfrm>
          <a:prstGeom prst="rect">
            <a:avLst/>
          </a:prstGeom>
          <a:solidFill>
            <a:srgbClr val="3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039112"/>
            <a:ext cx="30449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77686"/>
                </a:solidFill>
                <a:latin typeface="Aptos"/>
              </a:defRPr>
            </a:pPr>
            <a:r>
              <a:t>UK SHARE OF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04872"/>
            <a:ext cx="304495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E304B"/>
                </a:solidFill>
                <a:latin typeface="Aptos"/>
              </a:defRPr>
            </a:pPr>
            <a:r>
              <a:t>84.6%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008376"/>
            <a:ext cx="304495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77686"/>
                </a:solidFill>
                <a:latin typeface="Aptos"/>
              </a:defRPr>
            </a:pPr>
            <a:r>
              <a:t>UK contributes the majority of positive sales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874519"/>
            <a:ext cx="3383280" cy="160020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874519"/>
            <a:ext cx="82296" cy="1600200"/>
          </a:xfrm>
          <a:prstGeom prst="rect">
            <a:avLst/>
          </a:prstGeom>
          <a:solidFill>
            <a:srgbClr val="DAA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039112"/>
            <a:ext cx="29992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77686"/>
                </a:solidFill>
                <a:latin typeface="Aptos"/>
              </a:defRPr>
            </a:pPr>
            <a:r>
              <a:t>PRODUCTS REPRESENTED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404872"/>
            <a:ext cx="299923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E304B"/>
                </a:solidFill>
                <a:latin typeface="Aptos"/>
              </a:defRPr>
            </a:pPr>
            <a:r>
              <a:t>3,922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3008376"/>
            <a:ext cx="299923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77686"/>
                </a:solidFill>
                <a:latin typeface="Aptos"/>
              </a:defRPr>
            </a:pPr>
            <a:r>
              <a:t>Distinct products in positive-sales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977639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E304B"/>
                </a:solidFill>
                <a:latin typeface="Aptos"/>
              </a:defRPr>
            </a:pPr>
            <a:r>
              <a:t>Monthly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50749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November 2011 recorded the highest monthly positive sales value in the available data: £1,503,866.78.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977639"/>
            <a:ext cx="3657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E304B"/>
                </a:solidFill>
                <a:latin typeface="Aptos"/>
              </a:defRPr>
            </a:pPr>
            <a:r>
              <a:t>Customer concentration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434840"/>
            <a:ext cx="475488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The top 10 identified customers contributed about 17.3% of identified-customer sales.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677686"/>
                </a:solidFill>
                <a:latin typeface="Aptos"/>
              </a:defRPr>
            </a:pPr>
            <a:r>
              <a:t>Interpretation: these are sales-value patterns, not measures of profit or customer lifetime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348783"/>
                </a:solidFill>
                <a:latin typeface="Aptos"/>
              </a:defRPr>
            </a:pPr>
            <a:r>
              <a:t>04 / PRODUCT &amp;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E304B"/>
                </a:solidFill>
                <a:latin typeface="Aptos"/>
              </a:defRPr>
            </a:pPr>
            <a:r>
              <a:t>Sales value and volume tell different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77686"/>
                </a:solidFill>
                <a:latin typeface="Aptos"/>
              </a:defRPr>
            </a:pPr>
            <a:r>
              <a:t>A product can rank high in sales value without having the highest unit volume.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77686"/>
                </a:solidFill>
                <a:latin typeface="Aptos"/>
              </a:defRPr>
            </a:pPr>
            <a:r>
              <a:t>VIRTUBOX INFOTECH  •  DATA ANALYST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7768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029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E304B"/>
                </a:solidFill>
                <a:latin typeface="Aptos"/>
              </a:defRPr>
            </a:pPr>
            <a:r>
              <a:t>Selected products by sales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95728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27313D"/>
                </a:solidFill>
                <a:latin typeface="Aptos"/>
              </a:defRPr>
            </a:pPr>
            <a:r>
              <a:t>DOTCOM POSTAGE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414016"/>
            <a:ext cx="2148840" cy="18288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54680" y="2414016"/>
            <a:ext cx="2148840" cy="182880"/>
          </a:xfrm>
          <a:prstGeom prst="roundRect">
            <a:avLst/>
          </a:prstGeom>
          <a:solidFill>
            <a:srgbClr val="348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377440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E304B"/>
                </a:solidFill>
                <a:latin typeface="Aptos"/>
              </a:defRPr>
            </a:pPr>
            <a:r>
              <a:t>£206,249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999232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27313D"/>
                </a:solidFill>
                <a:latin typeface="Aptos"/>
              </a:defRPr>
            </a:pPr>
            <a:r>
              <a:t>REGENCY CAKESTAND 3 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017520"/>
            <a:ext cx="2148840" cy="18288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54680" y="3017520"/>
            <a:ext cx="1814481" cy="182880"/>
          </a:xfrm>
          <a:prstGeom prst="roundRect">
            <a:avLst/>
          </a:prstGeom>
          <a:solidFill>
            <a:srgbClr val="3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980944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E304B"/>
                </a:solidFill>
                <a:latin typeface="Aptos"/>
              </a:defRPr>
            </a:pPr>
            <a:r>
              <a:t>£174,157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602736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27313D"/>
                </a:solidFill>
                <a:latin typeface="Aptos"/>
              </a:defRPr>
            </a:pPr>
            <a:r>
              <a:t>PAPER CRAFT, LITTLE BIRDIE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3621024"/>
            <a:ext cx="2148840" cy="18288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54680" y="3621024"/>
            <a:ext cx="1755230" cy="182880"/>
          </a:xfrm>
          <a:prstGeom prst="roundRect">
            <a:avLst/>
          </a:prstGeom>
          <a:solidFill>
            <a:srgbClr val="3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3584448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E304B"/>
                </a:solidFill>
                <a:latin typeface="Aptos"/>
              </a:defRPr>
            </a:pPr>
            <a:r>
              <a:t>£168,470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06240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27313D"/>
                </a:solidFill>
                <a:latin typeface="Aptos"/>
              </a:defRPr>
            </a:pPr>
            <a:r>
              <a:t>WHITE HANGING HEART T-LIGHT HOLDER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4224527"/>
            <a:ext cx="2148840" cy="18288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54680" y="4224527"/>
            <a:ext cx="1106846" cy="182880"/>
          </a:xfrm>
          <a:prstGeom prst="roundRect">
            <a:avLst/>
          </a:prstGeom>
          <a:solidFill>
            <a:srgbClr val="3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4187952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E304B"/>
                </a:solidFill>
                <a:latin typeface="Aptos"/>
              </a:defRPr>
            </a:pPr>
            <a:r>
              <a:t>£106,237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809744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27313D"/>
                </a:solidFill>
                <a:latin typeface="Aptos"/>
              </a:defRPr>
            </a:pPr>
            <a:r>
              <a:t>PARTY BUNTING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54680" y="4828031"/>
            <a:ext cx="2148840" cy="18288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54680" y="4828031"/>
            <a:ext cx="1036088" cy="182880"/>
          </a:xfrm>
          <a:prstGeom prst="roundRect">
            <a:avLst/>
          </a:prstGeom>
          <a:solidFill>
            <a:srgbClr val="3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4791456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E304B"/>
                </a:solidFill>
                <a:latin typeface="Aptos"/>
              </a:defRPr>
            </a:pPr>
            <a:r>
              <a:t>£99,445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1874519"/>
            <a:ext cx="3931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E304B"/>
                </a:solidFill>
                <a:latin typeface="Aptos"/>
              </a:defRPr>
            </a:pPr>
            <a:r>
              <a:t>Country contribution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395728"/>
            <a:ext cx="429768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The UK generated approximately £9.00M in positive sales line value. The next largest country totals were much smaller, including the Netherlands (£285K) and EIRE (£283K).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4160520"/>
            <a:ext cx="4251960" cy="914400"/>
          </a:xfrm>
          <a:prstGeom prst="roundRect">
            <a:avLst/>
          </a:prstGeom>
          <a:solidFill>
            <a:srgbClr val="E0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4315968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348783"/>
                </a:solidFill>
                <a:latin typeface="Aptos"/>
              </a:defRPr>
            </a:pPr>
            <a:r>
              <a:t>What this suggests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617720"/>
            <a:ext cx="3703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1E304B"/>
                </a:solidFill>
                <a:latin typeface="Aptos"/>
              </a:defRPr>
            </a:pPr>
            <a:r>
              <a:t>Protect core UK performance while exploring opportunities in other markets.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989320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77686"/>
                </a:solidFill>
                <a:latin typeface="Aptos"/>
              </a:defRPr>
            </a:pPr>
            <a:r>
              <a:t>Note: DOTCOM POSTAGE and POSTAGE are included as recorded product descriptions, so business interpretation may require checking item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348783"/>
                </a:solidFill>
                <a:latin typeface="Aptos"/>
              </a:defRPr>
            </a:pPr>
            <a:r>
              <a:t>05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E304B"/>
                </a:solidFill>
                <a:latin typeface="Aptos"/>
              </a:defRPr>
            </a:pPr>
            <a:r>
              <a:t>What I would recommend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analysis provides a starting point for decisions, with a few checks needed before acting.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DE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77686"/>
                </a:solidFill>
                <a:latin typeface="Aptos"/>
              </a:defRPr>
            </a:pPr>
            <a:r>
              <a:t>VIRTUBOX INFOTECH  •  DATA ANALYST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7768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E304B"/>
                </a:solidFill>
                <a:latin typeface="Aptos"/>
              </a:defRPr>
            </a:pPr>
            <a:r>
              <a:t>Recommended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5760720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7313D"/>
                </a:solidFill>
                <a:latin typeface="Aptos"/>
              </a:defRPr>
            </a:pPr>
            <a:r>
              <a:t>Monitor top products and keep suitable stock available.</a:t>
            </a:r>
          </a:p>
          <a:p>
            <a:pPr>
              <a:spcAft>
                <a:spcPts val="1100"/>
              </a:spcAft>
              <a:defRPr sz="1500">
                <a:solidFill>
                  <a:srgbClr val="27313D"/>
                </a:solidFill>
                <a:latin typeface="Aptos"/>
              </a:defRPr>
            </a:pPr>
            <a:r>
              <a:t>Review the monthly pattern when planning promotions and inventory.</a:t>
            </a:r>
          </a:p>
          <a:p>
            <a:pPr>
              <a:spcAft>
                <a:spcPts val="1100"/>
              </a:spcAft>
              <a:defRPr sz="1500">
                <a:solidFill>
                  <a:srgbClr val="27313D"/>
                </a:solidFill>
                <a:latin typeface="Aptos"/>
              </a:defRPr>
            </a:pPr>
            <a:r>
              <a:t>Investigate cancellation and negative-quantity records to understand their causes.</a:t>
            </a:r>
          </a:p>
          <a:p>
            <a:pPr>
              <a:spcAft>
                <a:spcPts val="1100"/>
              </a:spcAft>
              <a:defRPr sz="1500">
                <a:solidFill>
                  <a:srgbClr val="27313D"/>
                </a:solidFill>
                <a:latin typeface="Aptos"/>
              </a:defRPr>
            </a:pPr>
            <a:r>
              <a:t>Compare countries using rates and customer context, not only raw totals.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920240"/>
            <a:ext cx="4251960" cy="329184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2212848"/>
            <a:ext cx="3566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E304B"/>
                </a:solidFill>
                <a:latin typeface="Aptos"/>
              </a:defRPr>
            </a:pPr>
            <a:r>
              <a:t>Limitations to 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743200"/>
            <a:ext cx="356616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7313D"/>
                </a:solidFill>
                <a:latin typeface="Aptos"/>
              </a:defRPr>
            </a:pPr>
            <a:r>
              <a:t>SalesValue is quantity × unit price; it is not profit.</a:t>
            </a:r>
          </a:p>
          <a:p>
            <a:pPr>
              <a:spcAft>
                <a:spcPts val="800"/>
              </a:spcAft>
              <a:defRPr sz="1200">
                <a:solidFill>
                  <a:srgbClr val="27313D"/>
                </a:solidFill>
                <a:latin typeface="Aptos"/>
              </a:defRPr>
            </a:pPr>
            <a:r>
              <a:t>December 2011 may be incomplete.</a:t>
            </a:r>
          </a:p>
          <a:p>
            <a:pPr>
              <a:spcAft>
                <a:spcPts val="800"/>
              </a:spcAft>
              <a:defRPr sz="1200">
                <a:solidFill>
                  <a:srgbClr val="27313D"/>
                </a:solidFill>
                <a:latin typeface="Aptos"/>
              </a:defRPr>
            </a:pPr>
            <a:r>
              <a:t>Cancellation and negative-quantity counts can overlap.</a:t>
            </a:r>
          </a:p>
          <a:p>
            <a:pPr>
              <a:spcAft>
                <a:spcPts val="800"/>
              </a:spcAft>
              <a:defRPr sz="1200">
                <a:solidFill>
                  <a:srgbClr val="27313D"/>
                </a:solidFill>
                <a:latin typeface="Aptos"/>
              </a:defRPr>
            </a:pPr>
            <a:r>
              <a:t>Customer IDs are missing for some transactions.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2743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348783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0819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77686"/>
                </a:solidFill>
                <a:latin typeface="Aptos"/>
              </a:defRPr>
            </a:pPr>
            <a:r>
              <a:t>Source: UCI Online Retail dataset • Analysis prepared for the VirtuBox Infotech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